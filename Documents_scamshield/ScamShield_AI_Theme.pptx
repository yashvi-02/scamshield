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2" r:id="rId4"/>
    <p:sldId id="263" r:id="rId5"/>
    <p:sldId id="264" r:id="rId6"/>
    <p:sldId id="259" r:id="rId7"/>
    <p:sldId id="258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Shah" userId="786d5fa251a28b25" providerId="LiveId" clId="{EE4B9295-2C52-4C72-8FD7-1EE124FDAF96}"/>
    <pc:docChg chg="custSel modSld">
      <pc:chgData name="Sakshi Shah" userId="786d5fa251a28b25" providerId="LiveId" clId="{EE4B9295-2C52-4C72-8FD7-1EE124FDAF96}" dt="2026-07-11T03:51:29.436" v="21" actId="20577"/>
      <pc:docMkLst>
        <pc:docMk/>
      </pc:docMkLst>
      <pc:sldChg chg="addSp delSp modSp mod">
        <pc:chgData name="Sakshi Shah" userId="786d5fa251a28b25" providerId="LiveId" clId="{EE4B9295-2C52-4C72-8FD7-1EE124FDAF96}" dt="2026-07-11T03:51:05.267" v="7" actId="14100"/>
        <pc:sldMkLst>
          <pc:docMk/>
          <pc:sldMk cId="619915141" sldId="264"/>
        </pc:sldMkLst>
        <pc:picChg chg="add mod modCrop">
          <ac:chgData name="Sakshi Shah" userId="786d5fa251a28b25" providerId="LiveId" clId="{EE4B9295-2C52-4C72-8FD7-1EE124FDAF96}" dt="2026-07-11T03:51:05.267" v="7" actId="14100"/>
          <ac:picMkLst>
            <pc:docMk/>
            <pc:sldMk cId="619915141" sldId="264"/>
            <ac:picMk id="5" creationId="{5591FA07-4230-67B1-6AE6-D85AB90E0007}"/>
          </ac:picMkLst>
        </pc:picChg>
        <pc:picChg chg="del">
          <ac:chgData name="Sakshi Shah" userId="786d5fa251a28b25" providerId="LiveId" clId="{EE4B9295-2C52-4C72-8FD7-1EE124FDAF96}" dt="2026-07-11T03:50:31.286" v="1" actId="478"/>
          <ac:picMkLst>
            <pc:docMk/>
            <pc:sldMk cId="619915141" sldId="264"/>
            <ac:picMk id="8" creationId="{405CECB6-F909-76FA-1B53-A7E663D422E5}"/>
          </ac:picMkLst>
        </pc:picChg>
      </pc:sldChg>
      <pc:sldChg chg="modSp mod">
        <pc:chgData name="Sakshi Shah" userId="786d5fa251a28b25" providerId="LiveId" clId="{EE4B9295-2C52-4C72-8FD7-1EE124FDAF96}" dt="2026-07-11T03:51:29.436" v="21" actId="20577"/>
        <pc:sldMkLst>
          <pc:docMk/>
          <pc:sldMk cId="3206567602" sldId="265"/>
        </pc:sldMkLst>
        <pc:spChg chg="mod">
          <ac:chgData name="Sakshi Shah" userId="786d5fa251a28b25" providerId="LiveId" clId="{EE4B9295-2C52-4C72-8FD7-1EE124FDAF96}" dt="2026-07-11T03:51:29.436" v="21" actId="20577"/>
          <ac:spMkLst>
            <pc:docMk/>
            <pc:sldMk cId="3206567602" sldId="265"/>
            <ac:spMk id="31" creationId="{E3ED38BC-5CDB-8E81-72CB-3679C38E75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71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107EC-6F5C-54EE-3744-1A2B6AD0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B6014-129F-31BF-2E9A-44D2344B5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2A42A-4FA3-EA88-8B49-ADFC21BCE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5DE52-DB94-98B2-453B-B30837CA7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67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8E16-9FBC-63ED-03E4-C958E7B0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6C45B-9015-3B52-DC2F-A75493C18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4C4CD-1D6D-11A3-17EC-FCD581CE0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9EF71-A3CC-9688-35DD-A2B66A748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75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C52A-4286-7607-7B5E-D1D24CB3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F781C-8F6A-DA19-488A-E23CC7478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2A3B9-1B74-A3D4-013E-A40F33E8E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DEFE4-0865-879C-9AB7-F171F1B74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52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CC79-11CE-18D3-808C-4184EDF2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7CCC2-B728-0CD5-A9B3-4D41833CD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2243D-C63B-1820-BEA2-E73D822A2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5BA4A-9CB3-E86D-A1C3-4E9B69AB0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5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9525">
            <a:solidFill>
              <a:srgbClr val="128C7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9525">
            <a:solidFill>
              <a:srgbClr val="128C7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9525">
            <a:solidFill>
              <a:srgbClr val="128C7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9525">
            <a:solidFill>
              <a:srgbClr val="128C7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9525">
            <a:solidFill>
              <a:srgbClr val="128C7E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9525">
            <a:solidFill>
              <a:srgbClr val="128C7E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914400"/>
            <a:ext cx="2651760" cy="4937760"/>
          </a:xfrm>
          <a:prstGeom prst="roundRect">
            <a:avLst>
              <a:gd name="adj" fmla="val 8621"/>
            </a:avLst>
          </a:prstGeom>
          <a:solidFill>
            <a:srgbClr val="1F2C33"/>
          </a:solidFill>
          <a:ln w="19050">
            <a:solidFill>
              <a:srgbClr val="128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87968" y="1234440"/>
            <a:ext cx="2432304" cy="4389120"/>
          </a:xfrm>
          <a:prstGeom prst="roundRect">
            <a:avLst>
              <a:gd name="adj" fmla="val 4511"/>
            </a:avLst>
          </a:prstGeom>
          <a:solidFill>
            <a:srgbClr val="111B21"/>
          </a:solidFill>
          <a:ln/>
        </p:spPr>
      </p:sp>
      <p:sp>
        <p:nvSpPr>
          <p:cNvPr id="10" name="Shape 8"/>
          <p:cNvSpPr/>
          <p:nvPr/>
        </p:nvSpPr>
        <p:spPr>
          <a:xfrm>
            <a:off x="9034272" y="1508760"/>
            <a:ext cx="2139696" cy="868680"/>
          </a:xfrm>
          <a:prstGeom prst="roundRect">
            <a:avLst>
              <a:gd name="adj" fmla="val 10526"/>
            </a:avLst>
          </a:prstGeom>
          <a:solidFill>
            <a:srgbClr val="202C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1554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WON $5,000! Claim now: bit.ly/xyz123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34272" y="2468880"/>
            <a:ext cx="2139696" cy="411480"/>
          </a:xfrm>
          <a:prstGeom prst="roundRect">
            <a:avLst>
              <a:gd name="adj" fmla="val 17778"/>
            </a:avLst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3" name="Image 0" descr="icons/brai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2542032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46404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message…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34272" y="3063240"/>
            <a:ext cx="2139696" cy="777240"/>
          </a:xfrm>
          <a:prstGeom prst="roundRect">
            <a:avLst>
              <a:gd name="adj" fmla="val 11765"/>
            </a:avLst>
          </a:prstGeom>
          <a:solidFill>
            <a:srgbClr val="FF4D4D">
              <a:alpha val="16000"/>
            </a:srgbClr>
          </a:solidFill>
          <a:ln w="15875">
            <a:solidFill>
              <a:srgbClr val="FF4D4D"/>
            </a:solidFill>
            <a:prstDash val="solid"/>
          </a:ln>
        </p:spPr>
      </p:sp>
      <p:pic>
        <p:nvPicPr>
          <p:cNvPr id="16" name="Image 1" descr="icons/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18211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528048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Scam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confidence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034272" y="3977640"/>
            <a:ext cx="2139696" cy="640080"/>
          </a:xfrm>
          <a:prstGeom prst="roundRect">
            <a:avLst>
              <a:gd name="adj" fmla="val 14286"/>
            </a:avLst>
          </a:prstGeom>
          <a:solidFill>
            <a:srgbClr val="25D366">
              <a:alpha val="14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9" name="Image 2" descr="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1148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09760" y="3977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Hey, are we still on for lunch?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74114" y="64847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ScamShield AI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576073" y="121997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Scams, Protecting People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548640" y="1810139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28C7E">
              <a:alpha val="25000"/>
            </a:srgbClr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1819469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•  Real-time  •  On-device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74114" y="4617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Shah (IU2341230078)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Yashvi </a:t>
            </a:r>
            <a:r>
              <a:rPr lang="en-US" dirty="0" err="1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Ghaghda</a:t>
            </a: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(IU2341230090)</a:t>
            </a:r>
          </a:p>
          <a:p>
            <a:pPr marL="0" indent="0" algn="just">
              <a:buNone/>
            </a:pPr>
            <a:endParaRPr lang="en-US" dirty="0">
              <a:solidFill>
                <a:srgbClr val="8696A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Anjali Chopra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Department, IITE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35B52-742D-FBF9-7940-7A8FD337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DA0364B0-BE46-9717-E327-4324B2851013}"/>
              </a:ext>
            </a:extLst>
          </p:cNvPr>
          <p:cNvSpPr txBox="1"/>
          <p:nvPr/>
        </p:nvSpPr>
        <p:spPr>
          <a:xfrm>
            <a:off x="558800" y="4808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ED38BC-5CDB-8E81-72CB-3679C38E7526}"/>
              </a:ext>
            </a:extLst>
          </p:cNvPr>
          <p:cNvSpPr txBox="1"/>
          <p:nvPr/>
        </p:nvSpPr>
        <p:spPr>
          <a:xfrm rot="10800000" flipH="1" flipV="1">
            <a:off x="558795" y="1186041"/>
            <a:ext cx="505968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The primary objective of </a:t>
            </a:r>
            <a:r>
              <a:rPr lang="en-IN" sz="2000" b="1" dirty="0" err="1">
                <a:solidFill>
                  <a:schemeClr val="bg1"/>
                </a:solidFill>
              </a:rPr>
              <a:t>ScamShield</a:t>
            </a:r>
            <a:r>
              <a:rPr lang="en-IN" sz="2000" b="1" dirty="0">
                <a:solidFill>
                  <a:schemeClr val="bg1"/>
                </a:solidFill>
              </a:rPr>
              <a:t> AI</a:t>
            </a:r>
            <a:r>
              <a:rPr lang="en-IN" sz="2000" dirty="0">
                <a:solidFill>
                  <a:schemeClr val="bg1"/>
                </a:solidFill>
              </a:rPr>
              <a:t> is to develop an AI-powered WhatsApp scam detection system specifically designed for the </a:t>
            </a:r>
            <a:r>
              <a:rPr lang="en-IN" sz="2000" b="1" dirty="0">
                <a:solidFill>
                  <a:schemeClr val="bg1"/>
                </a:solidFill>
              </a:rPr>
              <a:t>Indian digital ecosystem</a:t>
            </a:r>
            <a:r>
              <a:rPr lang="en-IN" sz="2000" dirty="0">
                <a:solidFill>
                  <a:schemeClr val="bg1"/>
                </a:solidFill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The proposed system focuses on identifying fraudulent messages written in </a:t>
            </a:r>
            <a:r>
              <a:rPr lang="en-IN" sz="2000" b="1" dirty="0">
                <a:solidFill>
                  <a:schemeClr val="bg1"/>
                </a:solidFill>
              </a:rPr>
              <a:t>English, Hindi, Gujarati, and Hinglish</a:t>
            </a:r>
            <a:r>
              <a:rPr lang="en-IN" sz="2000" dirty="0">
                <a:solidFill>
                  <a:schemeClr val="bg1"/>
                </a:solidFill>
              </a:rPr>
              <a:t>, addressing a significant gap in existing scam detection solutions, which primarily support English-language content.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8778B0-65DE-0BBD-87F4-87DF74743F09}"/>
              </a:ext>
            </a:extLst>
          </p:cNvPr>
          <p:cNvSpPr txBox="1"/>
          <p:nvPr/>
        </p:nvSpPr>
        <p:spPr>
          <a:xfrm>
            <a:off x="558798" y="641472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ScamShield</a:t>
            </a:r>
            <a:r>
              <a:rPr lang="en-US" sz="1100" dirty="0">
                <a:solidFill>
                  <a:schemeClr val="bg1"/>
                </a:solidFill>
              </a:rPr>
              <a:t> AI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07F1920-C824-AEC0-175D-3557984E03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18" b="5482"/>
          <a:stretch>
            <a:fillRect/>
          </a:stretch>
        </p:blipFill>
        <p:spPr>
          <a:xfrm>
            <a:off x="5618479" y="480834"/>
            <a:ext cx="6014721" cy="619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6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72EAA-4DD3-5FE1-C010-F28E0576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86B2C1-5DC2-60BC-40A7-47D7A6BD3254}"/>
              </a:ext>
            </a:extLst>
          </p:cNvPr>
          <p:cNvSpPr/>
          <p:nvPr/>
        </p:nvSpPr>
        <p:spPr>
          <a:xfrm>
            <a:off x="548640" y="298445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B000F93-FCF4-2695-5B5E-3A3E773EEE7B}"/>
              </a:ext>
            </a:extLst>
          </p:cNvPr>
          <p:cNvSpPr/>
          <p:nvPr/>
        </p:nvSpPr>
        <p:spPr>
          <a:xfrm>
            <a:off x="868680" y="1947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9F4FDD-792C-C08A-997B-1D6BC711B992}"/>
              </a:ext>
            </a:extLst>
          </p:cNvPr>
          <p:cNvSpPr/>
          <p:nvPr/>
        </p:nvSpPr>
        <p:spPr>
          <a:xfrm>
            <a:off x="914400" y="2560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2A21F4-CAC9-4EB6-43B2-3BB24A6DE0BE}"/>
              </a:ext>
            </a:extLst>
          </p:cNvPr>
          <p:cNvSpPr/>
          <p:nvPr/>
        </p:nvSpPr>
        <p:spPr>
          <a:xfrm>
            <a:off x="1207008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6CBF122-5766-726B-81FF-75ED6DF7A2F8}"/>
              </a:ext>
            </a:extLst>
          </p:cNvPr>
          <p:cNvSpPr/>
          <p:nvPr/>
        </p:nvSpPr>
        <p:spPr>
          <a:xfrm>
            <a:off x="4434840" y="1947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3E54599-5AA1-ACBD-21B3-4F76FC6BB1B4}"/>
              </a:ext>
            </a:extLst>
          </p:cNvPr>
          <p:cNvSpPr/>
          <p:nvPr/>
        </p:nvSpPr>
        <p:spPr>
          <a:xfrm>
            <a:off x="4480560" y="2560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2FDF017-D10B-5F22-BD72-8485E0E30F1E}"/>
              </a:ext>
            </a:extLst>
          </p:cNvPr>
          <p:cNvSpPr/>
          <p:nvPr/>
        </p:nvSpPr>
        <p:spPr>
          <a:xfrm>
            <a:off x="4773168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2C1412A-1AD9-B9E9-A9EB-2DCEA7436DF8}"/>
              </a:ext>
            </a:extLst>
          </p:cNvPr>
          <p:cNvSpPr/>
          <p:nvPr/>
        </p:nvSpPr>
        <p:spPr>
          <a:xfrm>
            <a:off x="8001000" y="1947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51E2673-2A25-07CA-910D-6CEC89436872}"/>
              </a:ext>
            </a:extLst>
          </p:cNvPr>
          <p:cNvSpPr/>
          <p:nvPr/>
        </p:nvSpPr>
        <p:spPr>
          <a:xfrm>
            <a:off x="8046720" y="2560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E7D65B8-6D46-7A71-DEFD-BC1C241A5605}"/>
              </a:ext>
            </a:extLst>
          </p:cNvPr>
          <p:cNvSpPr/>
          <p:nvPr/>
        </p:nvSpPr>
        <p:spPr>
          <a:xfrm>
            <a:off x="8339328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AF8ABA6C-6949-6080-26BD-A1B4569DD795}"/>
              </a:ext>
            </a:extLst>
          </p:cNvPr>
          <p:cNvSpPr/>
          <p:nvPr/>
        </p:nvSpPr>
        <p:spPr>
          <a:xfrm>
            <a:off x="82296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0EC0032E-E7C3-CEC1-B8FD-82578067D795}"/>
              </a:ext>
            </a:extLst>
          </p:cNvPr>
          <p:cNvSpPr/>
          <p:nvPr/>
        </p:nvSpPr>
        <p:spPr>
          <a:xfrm>
            <a:off x="82296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C5D70A10-48E0-B9B3-CDE6-2A03F8A996D7}"/>
              </a:ext>
            </a:extLst>
          </p:cNvPr>
          <p:cNvSpPr/>
          <p:nvPr/>
        </p:nvSpPr>
        <p:spPr>
          <a:xfrm>
            <a:off x="438912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E25CE656-C5EC-C08E-1BA2-86730E95D97F}"/>
              </a:ext>
            </a:extLst>
          </p:cNvPr>
          <p:cNvSpPr/>
          <p:nvPr/>
        </p:nvSpPr>
        <p:spPr>
          <a:xfrm>
            <a:off x="438912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BA770872-637C-E08B-B846-39E30B6C220E}"/>
              </a:ext>
            </a:extLst>
          </p:cNvPr>
          <p:cNvSpPr/>
          <p:nvPr/>
        </p:nvSpPr>
        <p:spPr>
          <a:xfrm>
            <a:off x="795528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490B4429-1503-ABFA-B688-0B289FA486B8}"/>
              </a:ext>
            </a:extLst>
          </p:cNvPr>
          <p:cNvSpPr/>
          <p:nvPr/>
        </p:nvSpPr>
        <p:spPr>
          <a:xfrm>
            <a:off x="795528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653ADE-57A4-18F4-9222-4D6E80B6A886}"/>
              </a:ext>
            </a:extLst>
          </p:cNvPr>
          <p:cNvSpPr txBox="1"/>
          <p:nvPr/>
        </p:nvSpPr>
        <p:spPr>
          <a:xfrm>
            <a:off x="5547360" y="18288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100" dirty="0" err="1"/>
              <a:t>ScamShield</a:t>
            </a:r>
            <a:r>
              <a:rPr lang="en-US" sz="1100" dirty="0"/>
              <a:t> AI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211C76-BCDB-6ADE-A8F1-BFED29D8D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505939"/>
              </p:ext>
            </p:extLst>
          </p:nvPr>
        </p:nvGraphicFramePr>
        <p:xfrm>
          <a:off x="503722" y="845025"/>
          <a:ext cx="10865316" cy="532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614">
                  <a:extLst>
                    <a:ext uri="{9D8B030D-6E8A-4147-A177-3AD203B41FA5}">
                      <a16:colId xmlns:a16="http://schemas.microsoft.com/office/drawing/2014/main" val="2923541254"/>
                    </a:ext>
                  </a:extLst>
                </a:gridCol>
                <a:gridCol w="3631351">
                  <a:extLst>
                    <a:ext uri="{9D8B030D-6E8A-4147-A177-3AD203B41FA5}">
                      <a16:colId xmlns:a16="http://schemas.microsoft.com/office/drawing/2014/main" val="2462451846"/>
                    </a:ext>
                  </a:extLst>
                </a:gridCol>
                <a:gridCol w="3631351">
                  <a:extLst>
                    <a:ext uri="{9D8B030D-6E8A-4147-A177-3AD203B41FA5}">
                      <a16:colId xmlns:a16="http://schemas.microsoft.com/office/drawing/2014/main" val="195219333"/>
                    </a:ext>
                  </a:extLst>
                </a:gridCol>
              </a:tblGrid>
              <a:tr h="5325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Key Characteristic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971575"/>
                  </a:ext>
                </a:extLst>
              </a:tr>
              <a:tr h="61826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Norton Genie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Standalone app (paid)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English-only; explicitly does not evaluate scams in other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354296"/>
                  </a:ext>
                </a:extLst>
              </a:tr>
              <a:tr h="114821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Bitdefender </a:t>
                      </a:r>
                      <a:r>
                        <a:rPr lang="en-IN" dirty="0" err="1"/>
                        <a:t>Scamio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WhatsApp/web chatbot (free)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Requires account signup mid-flow; does not </a:t>
                      </a:r>
                      <a:r>
                        <a:rPr lang="en-IN" dirty="0" err="1"/>
                        <a:t>analyze</a:t>
                      </a:r>
                      <a:r>
                        <a:rPr lang="en-IN" dirty="0"/>
                        <a:t> non-English text, explicitly asking users to translate messages into English first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543754"/>
                  </a:ext>
                </a:extLst>
              </a:tr>
              <a:tr h="61826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Trend Micro </a:t>
                      </a:r>
                      <a:r>
                        <a:rPr lang="en-IN" dirty="0" err="1"/>
                        <a:t>ScamCheck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Web tool (limited free)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Character limit issues; missed phishing scams in independent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214395"/>
                  </a:ext>
                </a:extLst>
              </a:tr>
              <a:tr h="8832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McAfee Scam Detector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Bundled in security suite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Full features gated behind subscription; strong on links, weaker on plain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482973"/>
                  </a:ext>
                </a:extLst>
              </a:tr>
              <a:tr h="7712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Google Messages / Phone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On-device (Android)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Built-in, proactive, but general-purpose not India-scam-specialized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68617"/>
                  </a:ext>
                </a:extLst>
              </a:tr>
              <a:tr h="61826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Meta AI (in WhatsApp)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General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Reactive user must think to ask; not a dedicated scam-checking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580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C9D0F7-7F05-BBA8-53AD-94F5EC318301}"/>
              </a:ext>
            </a:extLst>
          </p:cNvPr>
          <p:cNvSpPr txBox="1"/>
          <p:nvPr/>
        </p:nvSpPr>
        <p:spPr>
          <a:xfrm>
            <a:off x="434340" y="6188992"/>
            <a:ext cx="10607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Sources: official product pages, independent reviewer testing (Safety Detectives, KSL News), and hands-on testing conducted for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06562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6AF7D-718E-B426-CE85-4A4818E6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9DEBA0-EDAE-A208-02FA-685E7B843DF6}"/>
              </a:ext>
            </a:extLst>
          </p:cNvPr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B0214E-34BB-B617-7F95-997BEAA230D6}"/>
              </a:ext>
            </a:extLst>
          </p:cNvPr>
          <p:cNvSpPr/>
          <p:nvPr/>
        </p:nvSpPr>
        <p:spPr>
          <a:xfrm>
            <a:off x="868680" y="1947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85AB8EF-C2E3-200D-A5FB-CA7A8538BB70}"/>
              </a:ext>
            </a:extLst>
          </p:cNvPr>
          <p:cNvSpPr/>
          <p:nvPr/>
        </p:nvSpPr>
        <p:spPr>
          <a:xfrm>
            <a:off x="4434840" y="1947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D472EC8D-DB75-8FA3-3EFE-2DAF702AE2DD}"/>
              </a:ext>
            </a:extLst>
          </p:cNvPr>
          <p:cNvSpPr/>
          <p:nvPr/>
        </p:nvSpPr>
        <p:spPr>
          <a:xfrm>
            <a:off x="82296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DE6D4343-C596-0DF8-A02B-F6451D6CEE0F}"/>
              </a:ext>
            </a:extLst>
          </p:cNvPr>
          <p:cNvSpPr/>
          <p:nvPr/>
        </p:nvSpPr>
        <p:spPr>
          <a:xfrm>
            <a:off x="438912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137D61AF-7E5F-A7F2-41E2-7DFA9BFBD7B4}"/>
              </a:ext>
            </a:extLst>
          </p:cNvPr>
          <p:cNvSpPr/>
          <p:nvPr/>
        </p:nvSpPr>
        <p:spPr>
          <a:xfrm>
            <a:off x="795528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4D45D-5B25-7D2D-FABF-1203966E6C85}"/>
              </a:ext>
            </a:extLst>
          </p:cNvPr>
          <p:cNvSpPr txBox="1"/>
          <p:nvPr/>
        </p:nvSpPr>
        <p:spPr>
          <a:xfrm>
            <a:off x="5547360" y="18670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100" dirty="0" err="1"/>
              <a:t>ScamShield</a:t>
            </a:r>
            <a:r>
              <a:rPr lang="en-US" sz="1100" dirty="0"/>
              <a:t>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1E802-1246-21D3-D1F3-2AD55A727EC7}"/>
              </a:ext>
            </a:extLst>
          </p:cNvPr>
          <p:cNvSpPr txBox="1"/>
          <p:nvPr/>
        </p:nvSpPr>
        <p:spPr>
          <a:xfrm>
            <a:off x="548640" y="964805"/>
            <a:ext cx="10891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We didn't just read reviews we tested Bitdefender </a:t>
            </a:r>
            <a:r>
              <a:rPr lang="en-IN" sz="1600" dirty="0" err="1"/>
              <a:t>Scamio</a:t>
            </a:r>
            <a:r>
              <a:rPr lang="en-IN" sz="1600" dirty="0"/>
              <a:t> directly with real scam-style messages.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AA4D4E-FBC9-3815-E7F8-6E0BC54C7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00"/>
          <a:stretch>
            <a:fillRect/>
          </a:stretch>
        </p:blipFill>
        <p:spPr>
          <a:xfrm>
            <a:off x="552507" y="2688205"/>
            <a:ext cx="4883093" cy="41053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3A0ED8-6D29-D9E8-B46E-06B6E30EA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2688205"/>
            <a:ext cx="5842816" cy="410538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6E2DFFF-B7C7-BFE4-917A-0C87BB1DDB48}"/>
              </a:ext>
            </a:extLst>
          </p:cNvPr>
          <p:cNvSpPr txBox="1"/>
          <p:nvPr/>
        </p:nvSpPr>
        <p:spPr>
          <a:xfrm>
            <a:off x="548639" y="1303210"/>
            <a:ext cx="48869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/>
              <a:t>Generic, templated explanations: </a:t>
            </a:r>
            <a:r>
              <a:rPr lang="en-IN" sz="1600" dirty="0"/>
              <a:t>Even when correctly flagged, explanations never named the specific scam type (e.g., "digital arrest"), never quoted the actual phrases used, and never flagged the isolation tactic ("don't tell anyone").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8EA0D2-3E23-3D84-734B-8DD76CDEDC69}"/>
              </a:ext>
            </a:extLst>
          </p:cNvPr>
          <p:cNvSpPr txBox="1"/>
          <p:nvPr/>
        </p:nvSpPr>
        <p:spPr>
          <a:xfrm>
            <a:off x="5737860" y="1303359"/>
            <a:ext cx="58428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/>
              <a:t>Refuses to process plain conversational Hinglish:</a:t>
            </a:r>
            <a:r>
              <a:rPr lang="en-IN" sz="1600" dirty="0"/>
              <a:t> When sent a harmless personal message ("Bhai kal party </a:t>
            </a:r>
            <a:r>
              <a:rPr lang="en-IN" sz="1600" dirty="0" err="1"/>
              <a:t>mein</a:t>
            </a:r>
            <a:r>
              <a:rPr lang="en-IN" sz="1600" dirty="0"/>
              <a:t> </a:t>
            </a:r>
            <a:r>
              <a:rPr lang="en-IN" sz="1600" dirty="0" err="1"/>
              <a:t>aana</a:t>
            </a:r>
            <a:r>
              <a:rPr lang="en-IN" sz="1600" dirty="0"/>
              <a:t> </a:t>
            </a:r>
            <a:r>
              <a:rPr lang="en-IN" sz="1600" dirty="0" err="1"/>
              <a:t>bhool</a:t>
            </a:r>
            <a:r>
              <a:rPr lang="en-IN" sz="1600" dirty="0"/>
              <a:t> mat..."), </a:t>
            </a:r>
            <a:r>
              <a:rPr lang="en-IN" sz="1600" dirty="0" err="1"/>
              <a:t>Scamio</a:t>
            </a:r>
            <a:r>
              <a:rPr lang="en-IN" sz="1600" dirty="0"/>
              <a:t> did not </a:t>
            </a:r>
            <a:r>
              <a:rPr lang="en-IN" sz="1600" dirty="0" err="1"/>
              <a:t>analyze</a:t>
            </a:r>
            <a:r>
              <a:rPr lang="en-IN" sz="1600" dirty="0"/>
              <a:t> it — it flagged the text as being in "a different language" and asked the user to translate it into English before it could help.</a:t>
            </a:r>
          </a:p>
        </p:txBody>
      </p:sp>
    </p:spTree>
    <p:extLst>
      <p:ext uri="{BB962C8B-B14F-4D97-AF65-F5344CB8AC3E}">
        <p14:creationId xmlns:p14="http://schemas.microsoft.com/office/powerpoint/2010/main" val="401588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70922-8B58-7C46-CB38-2717B576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C8A857-0509-C69A-E238-7081C1FBDDB8}"/>
              </a:ext>
            </a:extLst>
          </p:cNvPr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Novelty 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16E697-EED2-077D-2A40-D1D1BC2C0591}"/>
              </a:ext>
            </a:extLst>
          </p:cNvPr>
          <p:cNvSpPr/>
          <p:nvPr/>
        </p:nvSpPr>
        <p:spPr>
          <a:xfrm>
            <a:off x="868680" y="1947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A67A6BB-D402-C0ED-9A74-3050688CC321}"/>
              </a:ext>
            </a:extLst>
          </p:cNvPr>
          <p:cNvSpPr/>
          <p:nvPr/>
        </p:nvSpPr>
        <p:spPr>
          <a:xfrm>
            <a:off x="4434840" y="1947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8DFA45EB-C0A1-2C37-223C-B4EB33360636}"/>
              </a:ext>
            </a:extLst>
          </p:cNvPr>
          <p:cNvSpPr/>
          <p:nvPr/>
        </p:nvSpPr>
        <p:spPr>
          <a:xfrm>
            <a:off x="82296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33485E4E-5E17-01DD-8243-9C2AAA05EABC}"/>
              </a:ext>
            </a:extLst>
          </p:cNvPr>
          <p:cNvSpPr/>
          <p:nvPr/>
        </p:nvSpPr>
        <p:spPr>
          <a:xfrm>
            <a:off x="438912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F48CD96D-706C-A2DC-AD61-F0618EBE7B9D}"/>
              </a:ext>
            </a:extLst>
          </p:cNvPr>
          <p:cNvSpPr/>
          <p:nvPr/>
        </p:nvSpPr>
        <p:spPr>
          <a:xfrm>
            <a:off x="795528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1A065-1243-7A26-FE04-3AE785C1C10B}"/>
              </a:ext>
            </a:extLst>
          </p:cNvPr>
          <p:cNvSpPr txBox="1"/>
          <p:nvPr/>
        </p:nvSpPr>
        <p:spPr>
          <a:xfrm>
            <a:off x="5547360" y="20575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100" dirty="0" err="1"/>
              <a:t>ScamShield</a:t>
            </a:r>
            <a:r>
              <a:rPr lang="en-US" sz="1100" dirty="0"/>
              <a:t>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1FA07-4230-67B1-6AE6-D85AB90E0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38"/>
          <a:stretch>
            <a:fillRect/>
          </a:stretch>
        </p:blipFill>
        <p:spPr>
          <a:xfrm>
            <a:off x="1366701" y="671178"/>
            <a:ext cx="8742317" cy="598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1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240" y="46817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663440" y="4617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234440" y="58064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892040" y="58064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549640" y="58064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44688A-7526-E1D6-08C0-2A8A6FFF0A3F}"/>
              </a:ext>
            </a:extLst>
          </p:cNvPr>
          <p:cNvSpPr txBox="1"/>
          <p:nvPr/>
        </p:nvSpPr>
        <p:spPr>
          <a:xfrm>
            <a:off x="5547360" y="14987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100" dirty="0" err="1"/>
              <a:t>ScamShield</a:t>
            </a:r>
            <a:r>
              <a:rPr lang="en-US" sz="1100" dirty="0"/>
              <a:t> AI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3C460BC-FD26-467B-726F-4343D3BC5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870980"/>
              </p:ext>
            </p:extLst>
          </p:nvPr>
        </p:nvGraphicFramePr>
        <p:xfrm>
          <a:off x="599440" y="1143000"/>
          <a:ext cx="10637520" cy="521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760">
                  <a:extLst>
                    <a:ext uri="{9D8B030D-6E8A-4147-A177-3AD203B41FA5}">
                      <a16:colId xmlns:a16="http://schemas.microsoft.com/office/drawing/2014/main" val="3390430899"/>
                    </a:ext>
                  </a:extLst>
                </a:gridCol>
                <a:gridCol w="5318760">
                  <a:extLst>
                    <a:ext uri="{9D8B030D-6E8A-4147-A177-3AD203B41FA5}">
                      <a16:colId xmlns:a16="http://schemas.microsoft.com/office/drawing/2014/main" val="1023298332"/>
                    </a:ext>
                  </a:extLst>
                </a:gridCol>
              </a:tblGrid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3138440"/>
                  </a:ext>
                </a:extLst>
              </a:tr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714542"/>
                  </a:ext>
                </a:extLst>
              </a:tr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Classic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scikit-learn (TF-IDF + Logistic Regression)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373330"/>
                  </a:ext>
                </a:extLst>
              </a:tr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Generative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Anthropic / OpenAI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521397"/>
                  </a:ext>
                </a:extLst>
              </a:tr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API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211223"/>
                  </a:ext>
                </a:extLst>
              </a:tr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WhatsApp Connector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Twilio WhatsApp Sandbox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742351"/>
                  </a:ext>
                </a:extLst>
              </a:tr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156699"/>
                  </a:ext>
                </a:extLst>
              </a:tr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94855"/>
                  </a:ext>
                </a:extLst>
              </a:tr>
              <a:tr h="57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Render (App + PostgreSQL)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1553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Detects a Scam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message flows through a lightweight detection pipeline in real time.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14600" y="3200400"/>
            <a:ext cx="48006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1737360" cy="2011680"/>
          </a:xfrm>
          <a:prstGeom prst="roundRect">
            <a:avLst>
              <a:gd name="adj" fmla="val 7368"/>
            </a:avLst>
          </a:prstGeom>
          <a:solidFill>
            <a:srgbClr val="17232B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423160"/>
            <a:ext cx="640080" cy="64008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7" name="Image 0" descr="icons/whatsapp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86968" y="363931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text is captured on-device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444752" y="1938528"/>
            <a:ext cx="402336" cy="365760"/>
          </a:xfrm>
          <a:prstGeom prst="roundRect">
            <a:avLst>
              <a:gd name="adj" fmla="val 125000"/>
            </a:avLst>
          </a:prstGeom>
          <a:solidFill>
            <a:srgbClr val="128C7E"/>
          </a:solidFill>
          <a:ln/>
        </p:spPr>
      </p:sp>
      <p:sp>
        <p:nvSpPr>
          <p:cNvPr id="11" name="Text 8"/>
          <p:cNvSpPr/>
          <p:nvPr/>
        </p:nvSpPr>
        <p:spPr>
          <a:xfrm>
            <a:off x="1444752" y="19385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32020" y="3200400"/>
            <a:ext cx="48006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94660" y="2194560"/>
            <a:ext cx="1737360" cy="2011680"/>
          </a:xfrm>
          <a:prstGeom prst="roundRect">
            <a:avLst>
              <a:gd name="adj" fmla="val 7368"/>
            </a:avLst>
          </a:prstGeom>
          <a:solidFill>
            <a:srgbClr val="17232B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43300" y="2423160"/>
            <a:ext cx="640080" cy="64008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5" name="Image 1" descr="icons/fingerprin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560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8610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104388" y="363931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urgency words, sender patterns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662172" y="1938528"/>
            <a:ext cx="402336" cy="365760"/>
          </a:xfrm>
          <a:prstGeom prst="roundRect">
            <a:avLst>
              <a:gd name="adj" fmla="val 125000"/>
            </a:avLst>
          </a:prstGeom>
          <a:solidFill>
            <a:srgbClr val="128C7E"/>
          </a:solidFill>
          <a:ln/>
        </p:spPr>
      </p:sp>
      <p:sp>
        <p:nvSpPr>
          <p:cNvPr id="19" name="Text 15"/>
          <p:cNvSpPr/>
          <p:nvPr/>
        </p:nvSpPr>
        <p:spPr>
          <a:xfrm>
            <a:off x="3662172" y="19385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949440" y="3200400"/>
            <a:ext cx="48006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212080" y="2194560"/>
            <a:ext cx="1737360" cy="2011680"/>
          </a:xfrm>
          <a:prstGeom prst="roundRect">
            <a:avLst>
              <a:gd name="adj" fmla="val 7368"/>
            </a:avLst>
          </a:prstGeom>
          <a:solidFill>
            <a:srgbClr val="17232B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60720" y="2423160"/>
            <a:ext cx="640080" cy="64008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3" name="Image 2" descr="icons/brain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5603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ML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321808" y="363931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 scores intent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879592" y="1938528"/>
            <a:ext cx="402336" cy="365760"/>
          </a:xfrm>
          <a:prstGeom prst="roundRect">
            <a:avLst>
              <a:gd name="adj" fmla="val 125000"/>
            </a:avLst>
          </a:prstGeom>
          <a:solidFill>
            <a:srgbClr val="128C7E"/>
          </a:solidFill>
          <a:ln/>
        </p:spPr>
      </p:sp>
      <p:sp>
        <p:nvSpPr>
          <p:cNvPr id="27" name="Text 22"/>
          <p:cNvSpPr/>
          <p:nvPr/>
        </p:nvSpPr>
        <p:spPr>
          <a:xfrm>
            <a:off x="5879592" y="19385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9166860" y="3200400"/>
            <a:ext cx="48006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429500" y="2194560"/>
            <a:ext cx="1737360" cy="2011680"/>
          </a:xfrm>
          <a:prstGeom prst="roundRect">
            <a:avLst>
              <a:gd name="adj" fmla="val 7368"/>
            </a:avLst>
          </a:prstGeom>
          <a:solidFill>
            <a:srgbClr val="17232B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978140" y="2423160"/>
            <a:ext cx="640080" cy="64008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1" name="Image 3" descr="icons/network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256032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2094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7539228" y="363931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vs known scam database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097012" y="1938528"/>
            <a:ext cx="402336" cy="365760"/>
          </a:xfrm>
          <a:prstGeom prst="roundRect">
            <a:avLst>
              <a:gd name="adj" fmla="val 125000"/>
            </a:avLst>
          </a:prstGeom>
          <a:solidFill>
            <a:srgbClr val="128C7E"/>
          </a:solidFill>
          <a:ln/>
        </p:spPr>
      </p:sp>
      <p:sp>
        <p:nvSpPr>
          <p:cNvPr id="35" name="Text 29"/>
          <p:cNvSpPr/>
          <p:nvPr/>
        </p:nvSpPr>
        <p:spPr>
          <a:xfrm>
            <a:off x="8097012" y="19385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9646920" y="2194560"/>
            <a:ext cx="1737360" cy="2011680"/>
          </a:xfrm>
          <a:prstGeom prst="roundRect">
            <a:avLst>
              <a:gd name="adj" fmla="val 7368"/>
            </a:avLst>
          </a:prstGeom>
          <a:solidFill>
            <a:srgbClr val="17232B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195560" y="2423160"/>
            <a:ext cx="640080" cy="640080"/>
          </a:xfrm>
          <a:prstGeom prst="ellipse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8" name="Image 4" descr="icons/shield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256032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738360" y="3154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9756648" y="363931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Suspicious / Scam label shown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10314432" y="1938528"/>
            <a:ext cx="402336" cy="365760"/>
          </a:xfrm>
          <a:prstGeom prst="roundRect">
            <a:avLst>
              <a:gd name="adj" fmla="val 125000"/>
            </a:avLst>
          </a:prstGeom>
          <a:solidFill>
            <a:srgbClr val="128C7E"/>
          </a:solidFill>
          <a:ln/>
        </p:spPr>
      </p:sp>
      <p:sp>
        <p:nvSpPr>
          <p:cNvPr id="42" name="Text 35"/>
          <p:cNvSpPr/>
          <p:nvPr/>
        </p:nvSpPr>
        <p:spPr>
          <a:xfrm>
            <a:off x="10314432" y="193852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1508760" y="489204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06F2CF-1F35-C5BC-2D34-E41EDE107FA4}"/>
              </a:ext>
            </a:extLst>
          </p:cNvPr>
          <p:cNvSpPr txBox="1"/>
          <p:nvPr/>
        </p:nvSpPr>
        <p:spPr>
          <a:xfrm>
            <a:off x="5547360" y="23495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100" dirty="0" err="1">
                <a:solidFill>
                  <a:schemeClr val="bg1"/>
                </a:solidFill>
              </a:rPr>
              <a:t>ScamShield</a:t>
            </a:r>
            <a:r>
              <a:rPr lang="en-US" sz="1100" dirty="0">
                <a:solidFill>
                  <a:schemeClr val="bg1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458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arrives, gets scanned instantly, and the chat updates with a clear verdict.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005840" y="1691640"/>
            <a:ext cx="3200400" cy="4572000"/>
          </a:xfrm>
          <a:prstGeom prst="roundRect">
            <a:avLst>
              <a:gd name="adj" fmla="val 8000"/>
            </a:avLst>
          </a:prstGeom>
          <a:solidFill>
            <a:srgbClr val="1F2C33"/>
          </a:solidFill>
          <a:ln w="19050">
            <a:solidFill>
              <a:srgbClr val="128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2011680"/>
            <a:ext cx="2944368" cy="3977640"/>
          </a:xfrm>
          <a:prstGeom prst="roundRect">
            <a:avLst>
              <a:gd name="adj" fmla="val 4348"/>
            </a:avLst>
          </a:prstGeom>
          <a:solidFill>
            <a:srgbClr val="111B2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6373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message just arrived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23317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202C33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Urgent! Your electricity will be disconnected today. Pay now: payelec-in.info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25880" y="3520440"/>
            <a:ext cx="2560320" cy="502920"/>
          </a:xfrm>
          <a:prstGeom prst="roundRect">
            <a:avLst>
              <a:gd name="adj" fmla="val 50909"/>
            </a:avLst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0" name="Image 0" descr="icons/brai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6118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7452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analyzing…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691640"/>
            <a:ext cx="3200400" cy="4572000"/>
          </a:xfrm>
          <a:prstGeom prst="roundRect">
            <a:avLst>
              <a:gd name="adj" fmla="val 8000"/>
            </a:avLst>
          </a:prstGeom>
          <a:solidFill>
            <a:srgbClr val="1F2C33"/>
          </a:solidFill>
          <a:ln w="19050">
            <a:solidFill>
              <a:srgbClr val="128C7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37376" y="2011680"/>
            <a:ext cx="2944368" cy="3977640"/>
          </a:xfrm>
          <a:prstGeom prst="roundRect">
            <a:avLst>
              <a:gd name="adj" fmla="val 4348"/>
            </a:avLst>
          </a:prstGeom>
          <a:solidFill>
            <a:srgbClr val="111B21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6373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verdict delivered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29400" y="23317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202C33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strike="sngStrike" dirty="0">
                <a:solidFill>
                  <a:srgbClr val="9AA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Urgent! Your electricity will be disconnected today. Pay now: payelec-in.info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29400" y="35204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4D4D">
              <a:alpha val="18000"/>
            </a:srgbClr>
          </a:solidFill>
          <a:ln w="19050">
            <a:solidFill>
              <a:srgbClr val="FF4D4D"/>
            </a:solidFill>
            <a:prstDash val="solid"/>
          </a:ln>
        </p:spPr>
      </p:sp>
      <p:pic>
        <p:nvPicPr>
          <p:cNvPr id="18" name="Image 1" descr="icons/warnin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648456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363016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Detected</a:t>
            </a:r>
            <a:endParaRPr lang="en-US" sz="1350" dirty="0"/>
          </a:p>
          <a:p>
            <a:pPr marL="0" indent="0">
              <a:buNone/>
            </a:pPr>
            <a:r>
              <a:rPr lang="en-US" sz="10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confidence · phishing link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29400" y="48006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11B21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29400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 •  Block sender  •  Ignore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297680" y="3931920"/>
            <a:ext cx="192024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17CC95A-1703-82F3-2EFC-2A32414C795F}"/>
              </a:ext>
            </a:extLst>
          </p:cNvPr>
          <p:cNvSpPr/>
          <p:nvPr/>
        </p:nvSpPr>
        <p:spPr>
          <a:xfrm>
            <a:off x="944880" y="17373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 err="1">
                <a:solidFill>
                  <a:schemeClr val="bg1"/>
                </a:solidFill>
              </a:rPr>
              <a:t>ScamShield</a:t>
            </a:r>
            <a:r>
              <a:rPr lang="en-US" sz="1100" dirty="0">
                <a:solidFill>
                  <a:schemeClr val="bg1"/>
                </a:solidFill>
              </a:rPr>
              <a:t> 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0AAC29-AED4-9176-D22A-F0C9CE5D1F54}"/>
              </a:ext>
            </a:extLst>
          </p:cNvPr>
          <p:cNvSpPr txBox="1"/>
          <p:nvPr/>
        </p:nvSpPr>
        <p:spPr>
          <a:xfrm>
            <a:off x="4581144" y="3562588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b="1" dirty="0" err="1">
                <a:solidFill>
                  <a:schemeClr val="bg1"/>
                </a:solidFill>
              </a:rPr>
              <a:t>ScamShield</a:t>
            </a:r>
            <a:r>
              <a:rPr lang="en-US" b="1" dirty="0">
                <a:solidFill>
                  <a:schemeClr val="bg1"/>
                </a:solidFill>
              </a:rPr>
              <a:t>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6350">
            <a:solidFill>
              <a:srgbClr val="128C7E">
                <a:alpha val="12000"/>
              </a:srgbClr>
            </a:solidFill>
            <a:prstDash val="solid"/>
          </a:ln>
        </p:spPr>
      </p:sp>
      <p:pic>
        <p:nvPicPr>
          <p:cNvPr id="12" name="Image 0" descr="icons/shield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188720"/>
            <a:ext cx="1463040" cy="1463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2880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Smarter. Stay Safer.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ScamShield AI keeps the conversations you trust free of the messages you shouldn't.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480560" y="44805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25D366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4480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Questions?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31520" y="6197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ScamShield</a:t>
            </a:r>
            <a:r>
              <a:rPr lang="en-US" sz="1100" dirty="0">
                <a:solidFill>
                  <a:schemeClr val="bg1"/>
                </a:solidFill>
              </a:rPr>
              <a:t>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631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Sakshi Shah</cp:lastModifiedBy>
  <cp:revision>4</cp:revision>
  <dcterms:created xsi:type="dcterms:W3CDTF">2026-07-10T19:13:34Z</dcterms:created>
  <dcterms:modified xsi:type="dcterms:W3CDTF">2026-08-08T03:17:45Z</dcterms:modified>
</cp:coreProperties>
</file>